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58" r:id="rId5"/>
    <p:sldId id="259" r:id="rId6"/>
    <p:sldId id="260" r:id="rId7"/>
    <p:sldId id="263" r:id="rId8"/>
    <p:sldId id="261" r:id="rId9"/>
  </p:sldIdLst>
  <p:sldSz cx="15124113" cy="1069181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12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/>
            </a:pPr>
            <a:endParaRPr lang="en-US" sz="14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1">
            <a:noAutofit/>
          </a:bodyPr>
          <a:lstStyle/>
          <a:p>
            <a:pPr marL="0" marR="0" lvl="0" indent="0" algn="r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/>
            </a:pPr>
            <a:endParaRPr lang="en-US" sz="14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="b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/>
            </a:pPr>
            <a:endParaRPr lang="en-US" sz="14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="b" anchorCtr="0" compatLnSpc="1">
            <a:noAutofit/>
          </a:bodyPr>
          <a:lstStyle/>
          <a:p>
            <a:pPr marL="0" marR="0" lvl="0" indent="0" algn="r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/>
            </a:pPr>
            <a:fld id="{0F176C07-880C-4EF3-8ACC-247E2F534713}" type="slidenum">
              <a:t>‹#›</a:t>
            </a:fld>
            <a:endParaRPr lang="en-US" sz="14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0941731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Move="1" noResize="1"/>
          </p:cNvSpPr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FFFFF"/>
          </a:solidFill>
          <a:ln cap="sq">
            <a:noFill/>
            <a:prstDash val="solid"/>
          </a:ln>
        </p:spPr>
        <p:txBody>
          <a:bodyPr wrap="none" lIns="90000" tIns="45000" rIns="90000" bIns="45000" anchor="ctr" anchorCtr="1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 idx="2"/>
          </p:nvPr>
        </p:nvSpPr>
        <p:spPr>
          <a:xfrm>
            <a:off x="-360" y="763200"/>
            <a:ext cx="360" cy="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4" name="Notes Placeholder 3"/>
          <p:cNvSpPr txBox="1">
            <a:spLocks noGrp="1"/>
          </p:cNvSpPr>
          <p:nvPr>
            <p:ph type="body" sz="quarter" idx="3"/>
          </p:nvPr>
        </p:nvSpPr>
        <p:spPr>
          <a:xfrm>
            <a:off x="777960" y="4776840"/>
            <a:ext cx="6216479" cy="4524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compatLnSpc="1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09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indent="0" algn="l" hangingPunct="0">
      <a:lnSpc>
        <a:spcPct val="100000"/>
      </a:lnSpc>
      <a:spcBef>
        <a:spcPts val="448"/>
      </a:spcBef>
      <a:spcAft>
        <a:spcPts val="0"/>
      </a:spcAft>
      <a:tabLst>
        <a:tab pos="0" algn="l"/>
        <a:tab pos="457200" algn="l"/>
        <a:tab pos="914400" algn="l"/>
        <a:tab pos="1371599" algn="l"/>
        <a:tab pos="1828800" algn="l"/>
        <a:tab pos="2286000" algn="l"/>
        <a:tab pos="2743199" algn="l"/>
        <a:tab pos="3200400" algn="l"/>
        <a:tab pos="3657600" algn="l"/>
        <a:tab pos="4114800" algn="l"/>
        <a:tab pos="4572000" algn="l"/>
        <a:tab pos="5029200" algn="l"/>
        <a:tab pos="5486399" algn="l"/>
        <a:tab pos="5943600" algn="l"/>
        <a:tab pos="6400799" algn="l"/>
        <a:tab pos="6858000" algn="l"/>
        <a:tab pos="7315200" algn="l"/>
        <a:tab pos="7772400" algn="l"/>
        <a:tab pos="8229600" algn="l"/>
        <a:tab pos="8686800" algn="l"/>
        <a:tab pos="9144000" algn="l"/>
      </a:tabLst>
      <a:defRPr lang="en-US" sz="1200" b="0" i="0" u="none" strike="noStrike" cap="none" baseline="0">
        <a:ln>
          <a:noFill/>
        </a:ln>
        <a:solidFill>
          <a:srgbClr val="000000"/>
        </a:solidFill>
        <a:highlight>
          <a:scrgbClr r="0" g="0" b="0">
            <a:alpha val="0"/>
          </a:scrgbClr>
        </a:highlight>
        <a:latin typeface="Times New Roman" pitchFamily="18"/>
        <a:ea typeface="Microsoft YaHei" pitchFamily="2"/>
        <a:cs typeface="Mang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763588"/>
            <a:ext cx="1588" cy="1587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600" y="4776840"/>
            <a:ext cx="6218280" cy="4525920"/>
          </a:xfrm>
        </p:spPr>
        <p:txBody>
          <a:bodyPr anchor="ctr" anchorCtr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763588"/>
            <a:ext cx="1588" cy="1587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600" y="4776840"/>
            <a:ext cx="6218280" cy="4525920"/>
          </a:xfrm>
        </p:spPr>
        <p:txBody>
          <a:bodyPr anchor="ctr" anchorCtr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763588"/>
            <a:ext cx="1588" cy="1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7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4948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763588"/>
            <a:ext cx="1588" cy="1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1904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763588"/>
            <a:ext cx="1588" cy="1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0877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763588"/>
            <a:ext cx="1588" cy="1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8278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0713" y="1749425"/>
            <a:ext cx="11342687" cy="372268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0713" y="5614988"/>
            <a:ext cx="11342687" cy="25828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80945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2801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2665413"/>
            <a:ext cx="13044488" cy="44481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875" y="7154863"/>
            <a:ext cx="13044488" cy="23383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0526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6325" y="2690813"/>
            <a:ext cx="6407150" cy="57848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5875" y="2690813"/>
            <a:ext cx="6408738" cy="57848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8500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00" y="569913"/>
            <a:ext cx="13044488" cy="20653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00" y="2620963"/>
            <a:ext cx="6399213" cy="12842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00" y="3905250"/>
            <a:ext cx="6399213" cy="57451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6513" y="2620963"/>
            <a:ext cx="6429375" cy="12842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6513" y="3905250"/>
            <a:ext cx="6429375" cy="57451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3119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5797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1723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00" y="712788"/>
            <a:ext cx="4878388" cy="24955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375" y="1539875"/>
            <a:ext cx="7656513" cy="75977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00" y="3208338"/>
            <a:ext cx="4878388" cy="59420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636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00" y="712788"/>
            <a:ext cx="4878388" cy="24955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29375" y="1539875"/>
            <a:ext cx="7656513" cy="759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00" y="3208338"/>
            <a:ext cx="4878388" cy="59420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043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1209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02938" y="754063"/>
            <a:ext cx="3241675" cy="7721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76325" y="754063"/>
            <a:ext cx="9574213" cy="77216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92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6325" y="755650"/>
            <a:ext cx="12958763" cy="1651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15883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0713" y="1749425"/>
            <a:ext cx="11342687" cy="372268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0713" y="5614988"/>
            <a:ext cx="11342687" cy="25828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75516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50778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2665413"/>
            <a:ext cx="13044488" cy="44481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875" y="7154863"/>
            <a:ext cx="13044488" cy="23383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5506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6325" y="2690813"/>
            <a:ext cx="6407150" cy="57848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5875" y="2690813"/>
            <a:ext cx="6408738" cy="57848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08214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00" y="569913"/>
            <a:ext cx="13044488" cy="20653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00" y="2620963"/>
            <a:ext cx="6399213" cy="12842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00" y="3905250"/>
            <a:ext cx="6399213" cy="57451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6513" y="2620963"/>
            <a:ext cx="6429375" cy="12842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6513" y="3905250"/>
            <a:ext cx="6429375" cy="57451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188219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544113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6389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00" y="712788"/>
            <a:ext cx="4878388" cy="24955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375" y="1539875"/>
            <a:ext cx="7656513" cy="75977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00" y="3208338"/>
            <a:ext cx="4878388" cy="59420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38899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00" y="712788"/>
            <a:ext cx="4878388" cy="24955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29375" y="1539875"/>
            <a:ext cx="7656513" cy="759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00" y="3208338"/>
            <a:ext cx="4878388" cy="59420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63496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98573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02938" y="755650"/>
            <a:ext cx="3241675" cy="77200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76325" y="755650"/>
            <a:ext cx="9574213" cy="772001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9020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430200" y="426960"/>
            <a:ext cx="14257440" cy="9831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5560" cap="sq">
            <a:solidFill>
              <a:srgbClr val="2200FF"/>
            </a:solidFill>
            <a:prstDash val="solid"/>
            <a:round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Title Placeholder 2"/>
          <p:cNvSpPr txBox="1">
            <a:spLocks noGrp="1"/>
          </p:cNvSpPr>
          <p:nvPr>
            <p:ph type="title"/>
          </p:nvPr>
        </p:nvSpPr>
        <p:spPr>
          <a:xfrm>
            <a:off x="1076040" y="753840"/>
            <a:ext cx="12968280" cy="16635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 compatLnSpc="1"/>
          <a:lstStyle/>
          <a:p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"/>
          </p:nvPr>
        </p:nvSpPr>
        <p:spPr>
          <a:xfrm>
            <a:off x="1076040" y="2690640"/>
            <a:ext cx="12968280" cy="5785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 compatLnSpc="1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txStyles>
    <p:titleStyle>
      <a:lvl1pPr marL="0" marR="0" indent="0" algn="l" eaLnBrk="1" hangingPunct="1">
        <a:lnSpc>
          <a:spcPct val="90000"/>
        </a:lnSpc>
        <a:spcBef>
          <a:spcPts val="0"/>
        </a:spcBef>
        <a:spcAft>
          <a:spcPts val="0"/>
        </a:spcAft>
        <a:tabLst>
          <a:tab pos="0" algn="l"/>
          <a:tab pos="457200" algn="l"/>
          <a:tab pos="914400" algn="l"/>
          <a:tab pos="1371599" algn="l"/>
          <a:tab pos="1828800" algn="l"/>
          <a:tab pos="2286000" algn="l"/>
          <a:tab pos="2743199" algn="l"/>
          <a:tab pos="3200400" algn="l"/>
          <a:tab pos="3657600" algn="l"/>
          <a:tab pos="4114800" algn="l"/>
          <a:tab pos="4572000" algn="l"/>
          <a:tab pos="5029200" algn="l"/>
          <a:tab pos="5486399" algn="l"/>
          <a:tab pos="5943600" algn="l"/>
          <a:tab pos="6400799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lang="en-US" sz="4600" b="0" i="0" u="none" strike="noStrike" cap="none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2"/>
        </a:defRPr>
      </a:lvl1pPr>
    </p:titleStyle>
    <p:bodyStyle>
      <a:lvl1pPr marL="342720" marR="0" indent="-342720" algn="l" eaLnBrk="1" hangingPunct="1">
        <a:lnSpc>
          <a:spcPct val="90000"/>
        </a:lnSpc>
        <a:spcBef>
          <a:spcPts val="1037"/>
        </a:spcBef>
        <a:spcAft>
          <a:spcPts val="0"/>
        </a:spcAft>
        <a:tabLst>
          <a:tab pos="342720" algn="l"/>
          <a:tab pos="456840" algn="l"/>
          <a:tab pos="914040" algn="l"/>
          <a:tab pos="1371239" algn="l"/>
          <a:tab pos="1828439" algn="l"/>
          <a:tab pos="2285639" algn="l"/>
          <a:tab pos="2742839" algn="l"/>
          <a:tab pos="3200040" algn="l"/>
          <a:tab pos="3657239" algn="l"/>
          <a:tab pos="4114440" algn="l"/>
          <a:tab pos="4571639" algn="l"/>
          <a:tab pos="5028840" algn="l"/>
          <a:tab pos="5486040" algn="l"/>
          <a:tab pos="5943240" algn="l"/>
          <a:tab pos="6400440" algn="l"/>
          <a:tab pos="6857640" algn="l"/>
          <a:tab pos="7314840" algn="l"/>
          <a:tab pos="7772040" algn="l"/>
          <a:tab pos="8229240" algn="l"/>
          <a:tab pos="8686440" algn="l"/>
          <a:tab pos="9143640" algn="l"/>
        </a:tabLst>
        <a:defRPr lang="en-US" sz="2900" b="0" i="0" u="none" strike="noStrike" cap="none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430200" y="426960"/>
            <a:ext cx="14257440" cy="9831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5560" cap="sq">
            <a:solidFill>
              <a:srgbClr val="2200FF"/>
            </a:solidFill>
            <a:prstDash val="solid"/>
            <a:round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Title Placeholder 2"/>
          <p:cNvSpPr txBox="1">
            <a:spLocks noGrp="1"/>
          </p:cNvSpPr>
          <p:nvPr>
            <p:ph type="title"/>
          </p:nvPr>
        </p:nvSpPr>
        <p:spPr>
          <a:xfrm>
            <a:off x="1076040" y="755280"/>
            <a:ext cx="12961800" cy="1654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 compatLnSpc="1"/>
          <a:lstStyle/>
          <a:p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"/>
          </p:nvPr>
        </p:nvSpPr>
        <p:spPr>
          <a:xfrm>
            <a:off x="1076040" y="2690640"/>
            <a:ext cx="12968280" cy="5785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 compatLnSpc="1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indent="0" algn="l" hangingPunct="1">
        <a:lnSpc>
          <a:spcPct val="90000"/>
        </a:lnSpc>
        <a:spcBef>
          <a:spcPts val="0"/>
        </a:spcBef>
        <a:spcAft>
          <a:spcPts val="0"/>
        </a:spcAft>
        <a:tabLst>
          <a:tab pos="0" algn="l"/>
          <a:tab pos="457200" algn="l"/>
          <a:tab pos="914400" algn="l"/>
          <a:tab pos="1371599" algn="l"/>
          <a:tab pos="1828800" algn="l"/>
          <a:tab pos="2286000" algn="l"/>
          <a:tab pos="2743199" algn="l"/>
          <a:tab pos="3200400" algn="l"/>
          <a:tab pos="3657600" algn="l"/>
          <a:tab pos="4114800" algn="l"/>
          <a:tab pos="4572000" algn="l"/>
          <a:tab pos="5029200" algn="l"/>
          <a:tab pos="5486399" algn="l"/>
          <a:tab pos="5943600" algn="l"/>
          <a:tab pos="6400799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lang="en-US" sz="4600" b="0" i="0" u="none" strike="noStrike" kern="1200" cap="none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2"/>
        </a:defRPr>
      </a:lvl1pPr>
    </p:titleStyle>
    <p:bodyStyle>
      <a:lvl1pPr marL="342720" marR="0" indent="-342720" algn="l" hangingPunct="1">
        <a:lnSpc>
          <a:spcPct val="90000"/>
        </a:lnSpc>
        <a:spcBef>
          <a:spcPts val="1037"/>
        </a:spcBef>
        <a:spcAft>
          <a:spcPts val="0"/>
        </a:spcAft>
        <a:tabLst>
          <a:tab pos="342720" algn="l"/>
          <a:tab pos="456840" algn="l"/>
          <a:tab pos="914040" algn="l"/>
          <a:tab pos="1371239" algn="l"/>
          <a:tab pos="1828439" algn="l"/>
          <a:tab pos="2285639" algn="l"/>
          <a:tab pos="2742839" algn="l"/>
          <a:tab pos="3200040" algn="l"/>
          <a:tab pos="3657239" algn="l"/>
          <a:tab pos="4114440" algn="l"/>
          <a:tab pos="4571639" algn="l"/>
          <a:tab pos="5028840" algn="l"/>
          <a:tab pos="5486040" algn="l"/>
          <a:tab pos="5943240" algn="l"/>
          <a:tab pos="6400440" algn="l"/>
          <a:tab pos="6857640" algn="l"/>
          <a:tab pos="7314840" algn="l"/>
          <a:tab pos="7772040" algn="l"/>
          <a:tab pos="8229240" algn="l"/>
          <a:tab pos="8686440" algn="l"/>
          <a:tab pos="9143640" algn="l"/>
        </a:tabLst>
        <a:defRPr lang="en-US" sz="2900" b="0" i="0" u="none" strike="noStrike" kern="1200" cap="none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/>
          <p:nvPr/>
        </p:nvSpPr>
        <p:spPr>
          <a:xfrm>
            <a:off x="422350" y="7823160"/>
            <a:ext cx="14264640" cy="1800"/>
          </a:xfrm>
          <a:prstGeom prst="line">
            <a:avLst/>
          </a:prstGeom>
          <a:noFill/>
          <a:ln w="9360" cap="sq">
            <a:solidFill>
              <a:srgbClr val="2200FF"/>
            </a:solidFill>
            <a:prstDash val="solid"/>
            <a:miter/>
          </a:ln>
        </p:spPr>
        <p:txBody>
          <a:bodyPr wrap="square" lIns="90000" tIns="46800" rIns="90000" bIns="46800" anchor="t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9209160" y="6737400"/>
            <a:ext cx="5262479" cy="93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anchor="ctr" anchorCtr="0" compatLnSpc="1">
            <a:noAutofit/>
          </a:bodyPr>
          <a:lstStyle/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i="0" u="none" strike="noStrike" cap="none" baseline="0">
              <a:ln>
                <a:noFill/>
              </a:ln>
              <a:solidFill>
                <a:srgbClr val="000000"/>
              </a:solidFill>
              <a:latin typeface="Arial" pitchFamily="2"/>
              <a:ea typeface="DejaVu Sans" pitchFamily="2"/>
              <a:cs typeface="DejaVu Sans" pitchFamily="2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9435960" y="6980399"/>
            <a:ext cx="5262840" cy="93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ctr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i="0" u="sng" strike="noStrike" cap="none" baseline="0" dirty="0">
                <a:ln>
                  <a:noFill/>
                </a:ln>
                <a:solidFill>
                  <a:srgbClr val="000000"/>
                </a:solidFill>
                <a:uFillTx/>
                <a:latin typeface="Calibri" pitchFamily="34"/>
                <a:ea typeface="DejaVu Sans" pitchFamily="2"/>
                <a:cs typeface="DejaVu Sans" pitchFamily="2"/>
              </a:rPr>
              <a:t>SHED</a:t>
            </a:r>
          </a:p>
          <a:p>
            <a:pPr marL="0" marR="0" lvl="0" indent="0" algn="ctr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200" b="0" i="0" u="sng" strike="noStrike" cap="none" baseline="0" dirty="0">
              <a:ln>
                <a:noFill/>
              </a:ln>
              <a:solidFill>
                <a:srgbClr val="000000"/>
              </a:solidFill>
              <a:uFillTx/>
              <a:latin typeface="Calibri" pitchFamily="34"/>
              <a:ea typeface="DejaVu Sans" pitchFamily="2"/>
              <a:cs typeface="DejaVu Sans" pitchFamily="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713271"/>
              </p:ext>
            </p:extLst>
          </p:nvPr>
        </p:nvGraphicFramePr>
        <p:xfrm>
          <a:off x="8596440" y="7907240"/>
          <a:ext cx="6006600" cy="2286000"/>
        </p:xfrm>
        <a:graphic>
          <a:graphicData uri="http://schemas.openxmlformats.org/drawingml/2006/table">
            <a:tbl>
              <a:tblPr/>
              <a:tblGrid>
                <a:gridCol w="1636920">
                  <a:extLst>
                    <a:ext uri="{9D8B030D-6E8A-4147-A177-3AD203B41FA5}">
                      <a16:colId xmlns:a16="http://schemas.microsoft.com/office/drawing/2014/main" val="1049165015"/>
                    </a:ext>
                  </a:extLst>
                </a:gridCol>
                <a:gridCol w="1953000">
                  <a:extLst>
                    <a:ext uri="{9D8B030D-6E8A-4147-A177-3AD203B41FA5}">
                      <a16:colId xmlns:a16="http://schemas.microsoft.com/office/drawing/2014/main" val="3809151831"/>
                    </a:ext>
                  </a:extLst>
                </a:gridCol>
                <a:gridCol w="2416680">
                  <a:extLst>
                    <a:ext uri="{9D8B030D-6E8A-4147-A177-3AD203B41FA5}">
                      <a16:colId xmlns:a16="http://schemas.microsoft.com/office/drawing/2014/main" val="1081704141"/>
                    </a:ext>
                  </a:extLst>
                </a:gridCol>
              </a:tblGrid>
              <a:tr h="516410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Quotation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Q--OI-GH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lang="en-US" sz="1800" b="0" i="0" u="none" strike="noStrike" cap="none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2"/>
                        <a:ea typeface="DejaVu Sans" pitchFamily="2"/>
                        <a:cs typeface="DejaVu Sans" pitchFamily="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163135"/>
                  </a:ext>
                </a:extLst>
              </a:tr>
              <a:tr h="516410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18 MAR 2024</a:t>
                      </a:r>
                      <a:endParaRPr lang="en-US" sz="1800" b="0" i="0" u="none" strike="noStrike" cap="none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2"/>
                        <a:ea typeface="DejaVu Sans" pitchFamily="2"/>
                        <a:cs typeface="DejaVu Sans" pitchFamily="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4553545"/>
                  </a:ext>
                </a:extLst>
              </a:tr>
              <a:tr h="368385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6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REV.NO.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6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BLDG.NO.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6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4150180"/>
                  </a:ext>
                </a:extLst>
              </a:tr>
              <a:tr h="516410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SSM</a:t>
                      </a:r>
                      <a:endParaRPr lang="en-US" sz="1800" b="0" i="0" u="none" strike="noStrike" cap="none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2"/>
                        <a:ea typeface="DejaVu Sans" pitchFamily="2"/>
                        <a:cs typeface="DejaVu Sans" pitchFamily="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MNM</a:t>
                      </a:r>
                      <a:endParaRPr lang="en-US" sz="1800" b="0" i="0" u="none" strike="noStrike" cap="none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latin typeface="Arial" pitchFamily="2"/>
                        <a:ea typeface="DejaVu Sans" pitchFamily="2"/>
                        <a:cs typeface="DejaVu Sans" pitchFamily="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8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Arial" pitchFamily="2"/>
                          <a:ea typeface="DejaVu Sans" pitchFamily="2"/>
                          <a:cs typeface="DejaVu Sans" pitchFamily="2"/>
                        </a:rPr>
                        <a:t>VVJ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2824333"/>
                  </a:ext>
                </a:extLst>
              </a:tr>
              <a:tr h="368385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6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DESIGNED BY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600" b="0" i="0" u="none" strike="noStrike" cap="none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DRAWN BY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6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CHECKED BY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2521836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171039"/>
              </p:ext>
            </p:extLst>
          </p:nvPr>
        </p:nvGraphicFramePr>
        <p:xfrm>
          <a:off x="5102379" y="7908763"/>
          <a:ext cx="3404520" cy="2286000"/>
        </p:xfrm>
        <a:graphic>
          <a:graphicData uri="http://schemas.openxmlformats.org/drawingml/2006/table">
            <a:tbl>
              <a:tblPr/>
              <a:tblGrid>
                <a:gridCol w="836280">
                  <a:extLst>
                    <a:ext uri="{9D8B030D-6E8A-4147-A177-3AD203B41FA5}">
                      <a16:colId xmlns:a16="http://schemas.microsoft.com/office/drawing/2014/main" val="2552035514"/>
                    </a:ext>
                  </a:extLst>
                </a:gridCol>
                <a:gridCol w="2568240">
                  <a:extLst>
                    <a:ext uri="{9D8B030D-6E8A-4147-A177-3AD203B41FA5}">
                      <a16:colId xmlns:a16="http://schemas.microsoft.com/office/drawing/2014/main" val="190236052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400" b="1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Sheet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400" b="1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Contents</a:t>
                      </a:r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397671711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01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Title Sheet</a:t>
                      </a:r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99574195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02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Isometric Views</a:t>
                      </a:r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411766441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03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Roof Plan</a:t>
                      </a:r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187058618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04, 05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Side &amp; End Wall Elevations</a:t>
                      </a:r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367018549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06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Column Layout Plan</a:t>
                      </a:r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176560408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07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kern="1200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Frame Views</a:t>
                      </a:r>
                      <a:endParaRPr lang="en-US" dirty="0"/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394000512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08</a:t>
                      </a:r>
                    </a:p>
                  </a:txBody>
                  <a:tcPr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599" algn="l"/>
                          <a:tab pos="1828800" algn="l"/>
                          <a:tab pos="2286000" algn="l"/>
                          <a:tab pos="2743199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399" algn="l"/>
                          <a:tab pos="5943600" algn="l"/>
                          <a:tab pos="6400799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lang="en-US" sz="1300" b="0" i="0" u="none" strike="noStrike" kern="1200" cap="none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/>
                          <a:ea typeface="DejaVu Sans" pitchFamily="2"/>
                          <a:cs typeface="DejaVu Sans" pitchFamily="2"/>
                        </a:rPr>
                        <a:t>Outline Specifications</a:t>
                      </a:r>
                    </a:p>
                  </a:txBody>
                  <a:tcPr marR="0" marT="0" marB="0" anchor="ctr"/>
                </a:tc>
                <a:extLst>
                  <a:ext uri="{0D108BD9-81ED-4DB2-BD59-A6C34878D82A}">
                    <a16:rowId xmlns:a16="http://schemas.microsoft.com/office/drawing/2014/main" val="151631040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795" y="7915319"/>
            <a:ext cx="4459184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703716"/>
            <a:ext cx="15124113" cy="12843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square" lIns="90000" tIns="45000" rIns="90000" bIns="45000" anchor="t" anchorCtr="0" compatLnSpc="1">
            <a:noAutofit/>
          </a:bodyPr>
          <a:lstStyle/>
          <a:p>
            <a:pPr marL="0" marR="0" lvl="0" indent="0" algn="ctr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200" b="1" i="0" u="sng" strike="noStrike" cap="none" baseline="0" dirty="0">
                <a:ln>
                  <a:noFill/>
                </a:ln>
                <a:solidFill>
                  <a:srgbClr val="000000"/>
                </a:solidFill>
                <a:uFillTx/>
                <a:latin typeface="Calibri" pitchFamily="34"/>
                <a:ea typeface="DejaVu Sans" pitchFamily="2"/>
                <a:cs typeface="DejaVu Sans" pitchFamily="2"/>
              </a:rPr>
              <a:t>ISOMETRIC</a:t>
            </a:r>
          </a:p>
          <a:p>
            <a:pPr marL="0" marR="0" lvl="0" indent="0" algn="ctr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200" b="1" i="0" u="sng" strike="noStrike" cap="none" baseline="0" dirty="0">
                <a:ln>
                  <a:noFill/>
                </a:ln>
                <a:solidFill>
                  <a:srgbClr val="000000"/>
                </a:solidFill>
                <a:uFillTx/>
                <a:latin typeface="Calibri" pitchFamily="34"/>
                <a:ea typeface="DejaVu Sans" pitchFamily="2"/>
                <a:cs typeface="DejaVu Sans" pitchFamily="2"/>
              </a:rPr>
              <a:t>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50405" y="10312400"/>
            <a:ext cx="8233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Sheet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1076325" y="752475"/>
            <a:ext cx="9720263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03" name="Group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530003"/>
              </p:ext>
            </p:extLst>
          </p:nvPr>
        </p:nvGraphicFramePr>
        <p:xfrm>
          <a:off x="11499850" y="509588"/>
          <a:ext cx="3106738" cy="974371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88963">
                  <a:extLst>
                    <a:ext uri="{9D8B030D-6E8A-4147-A177-3AD203B41FA5}">
                      <a16:colId xmlns:a16="http://schemas.microsoft.com/office/drawing/2014/main" val="3023593774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1467255611"/>
                    </a:ext>
                  </a:extLst>
                </a:gridCol>
                <a:gridCol w="777875">
                  <a:extLst>
                    <a:ext uri="{9D8B030D-6E8A-4147-A177-3AD203B41FA5}">
                      <a16:colId xmlns:a16="http://schemas.microsoft.com/office/drawing/2014/main" val="1532989057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3008855979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3188732711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494848359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791281485"/>
                    </a:ext>
                  </a:extLst>
                </a:gridCol>
              </a:tblGrid>
              <a:tr h="4651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NOTE: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860533"/>
                  </a:ext>
                </a:extLst>
              </a:tr>
              <a:tr h="628650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1. ALL DIMENSIONS ARE IN MILLIMETER. U.N.O.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2. ROOF &amp; WALL SHEET 0.5mm THK. RAL -9016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 FINISH ALUZINC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215411"/>
                  </a:ext>
                </a:extLst>
              </a:tr>
              <a:tr h="80168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ALL DIMENSION LEVEL SHOW IN THE PROPOSAL     DRAWING IS INDICATIVE ONLY. 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FINAL DESIGN DIMENSION LEVEL WILL BE SHOWN IN OUR APROVAL  DRAWING IN THE DESIGN STAGE.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700482"/>
                  </a:ext>
                </a:extLst>
              </a:tr>
              <a:tr h="4778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396477"/>
                  </a:ext>
                </a:extLst>
              </a:tr>
              <a:tr h="4778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extLst>
                  <a:ext uri="{0D108BD9-81ED-4DB2-BD59-A6C34878D82A}">
                    <a16:rowId xmlns:a16="http://schemas.microsoft.com/office/drawing/2014/main" val="3353900427"/>
                  </a:ext>
                </a:extLst>
              </a:tr>
              <a:tr h="5254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MAR 2024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Issued for proposal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SSM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MNM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VVJ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extLst>
                  <a:ext uri="{0D108BD9-81ED-4DB2-BD59-A6C34878D82A}">
                    <a16:rowId xmlns:a16="http://schemas.microsoft.com/office/drawing/2014/main" val="3468695605"/>
                  </a:ext>
                </a:extLst>
              </a:tr>
              <a:tr h="4651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DATE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DESCRIPTION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DSN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DRN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CHK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extLst>
                  <a:ext uri="{0D108BD9-81ED-4DB2-BD59-A6C34878D82A}">
                    <a16:rowId xmlns:a16="http://schemas.microsoft.com/office/drawing/2014/main" val="3175125481"/>
                  </a:ext>
                </a:extLst>
              </a:tr>
              <a:tr h="4651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Quotation number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162167"/>
                  </a:ext>
                </a:extLst>
              </a:tr>
              <a:tr h="4651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Q--OI-GH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246537"/>
                  </a:ext>
                </a:extLst>
              </a:tr>
              <a:tr h="463550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PROJECT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870142"/>
                  </a:ext>
                </a:extLst>
              </a:tr>
              <a:tr h="4651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SHED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919314"/>
                  </a:ext>
                </a:extLst>
              </a:tr>
              <a:tr h="4651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CLIENT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2743211"/>
                  </a:ext>
                </a:extLst>
              </a:tr>
              <a:tr h="4778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DejaVu Sans" charset="0"/>
                        </a:rPr>
                        <a:t>-</a:t>
                      </a:r>
                    </a:p>
                  </a:txBody>
                  <a:tcPr marL="90000" marR="90000" marT="4680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642121"/>
                  </a:ext>
                </a:extLst>
              </a:tr>
              <a:tr h="1116013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r" defTabSz="457200" rtl="0" eaLnBrk="0" fontAlgn="base" latinLnBrk="0" hangingPunct="0">
                        <a:lnSpc>
                          <a:spcPct val="12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4680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262410"/>
                  </a:ext>
                </a:extLst>
              </a:tr>
              <a:tr h="465138"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BUILDING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NO.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REVISION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NO.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DATE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SHEET No.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656012"/>
                  </a:ext>
                </a:extLst>
              </a:tr>
              <a:tr h="525463"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00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MAR 2024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03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612954"/>
                  </a:ext>
                </a:extLst>
              </a:tr>
              <a:tr h="4651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DRAWING TITLE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044545"/>
                  </a:ext>
                </a:extLst>
              </a:tr>
              <a:tr h="45878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ROOF PLAN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4634901"/>
                  </a:ext>
                </a:extLst>
              </a:tr>
            </a:tbl>
          </a:graphicData>
        </a:graphic>
      </p:graphicFrame>
      <p:sp>
        <p:nvSpPr>
          <p:cNvPr id="4231" name="Text Box 135"/>
          <p:cNvSpPr txBox="1">
            <a:spLocks noChangeArrowheads="1"/>
          </p:cNvSpPr>
          <p:nvPr/>
        </p:nvSpPr>
        <p:spPr bwMode="auto">
          <a:xfrm>
            <a:off x="419100" y="9232106"/>
            <a:ext cx="11080750" cy="66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b="1" u="sng" dirty="0"/>
              <a:t>ROOF PLAN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6273" y="7212806"/>
            <a:ext cx="1935718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02276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ChangeArrowheads="1"/>
          </p:cNvSpPr>
          <p:nvPr/>
        </p:nvSpPr>
        <p:spPr bwMode="auto">
          <a:xfrm>
            <a:off x="1076325" y="752475"/>
            <a:ext cx="9720263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50" name="Text Box 130"/>
          <p:cNvSpPr txBox="1">
            <a:spLocks noChangeArrowheads="1"/>
          </p:cNvSpPr>
          <p:nvPr/>
        </p:nvSpPr>
        <p:spPr bwMode="auto">
          <a:xfrm>
            <a:off x="444500" y="9566275"/>
            <a:ext cx="11055350" cy="66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b="1" u="sng" dirty="0"/>
              <a:t>RIGHT END WALL ELEVATION</a:t>
            </a:r>
          </a:p>
        </p:txBody>
      </p:sp>
      <p:sp>
        <p:nvSpPr>
          <p:cNvPr id="5251" name="Text Box 131"/>
          <p:cNvSpPr txBox="1">
            <a:spLocks noChangeArrowheads="1"/>
          </p:cNvSpPr>
          <p:nvPr/>
        </p:nvSpPr>
        <p:spPr bwMode="auto">
          <a:xfrm>
            <a:off x="444500" y="4783138"/>
            <a:ext cx="11055350" cy="66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b="1" u="sng" dirty="0"/>
              <a:t>LEFT END WALL ELEVATION</a:t>
            </a:r>
          </a:p>
        </p:txBody>
      </p:sp>
      <p:pic>
        <p:nvPicPr>
          <p:cNvPr id="5252" name="Picture 13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1825" y="7171076"/>
            <a:ext cx="1984375" cy="107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7" name="Group 7">
            <a:extLst>
              <a:ext uri="{FF2B5EF4-FFF2-40B4-BE49-F238E27FC236}">
                <a16:creationId xmlns:a16="http://schemas.microsoft.com/office/drawing/2014/main" id="{30AD8A7D-9538-40E2-AF29-89456D6B6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365343"/>
              </p:ext>
            </p:extLst>
          </p:nvPr>
        </p:nvGraphicFramePr>
        <p:xfrm>
          <a:off x="11499850" y="509588"/>
          <a:ext cx="3106738" cy="974371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88963">
                  <a:extLst>
                    <a:ext uri="{9D8B030D-6E8A-4147-A177-3AD203B41FA5}">
                      <a16:colId xmlns:a16="http://schemas.microsoft.com/office/drawing/2014/main" val="3023593774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1467255611"/>
                    </a:ext>
                  </a:extLst>
                </a:gridCol>
                <a:gridCol w="777875">
                  <a:extLst>
                    <a:ext uri="{9D8B030D-6E8A-4147-A177-3AD203B41FA5}">
                      <a16:colId xmlns:a16="http://schemas.microsoft.com/office/drawing/2014/main" val="1532989057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3008855979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3188732711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494848359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791281485"/>
                    </a:ext>
                  </a:extLst>
                </a:gridCol>
              </a:tblGrid>
              <a:tr h="4651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NOTE: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860533"/>
                  </a:ext>
                </a:extLst>
              </a:tr>
              <a:tr h="628650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1. ALL DIMENSIONS ARE IN MILLIMETER. U.N.O.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2. ROOF &amp; WALL SHEET 0.5mm THK. RAL -9016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 FINISH ALUZINC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215411"/>
                  </a:ext>
                </a:extLst>
              </a:tr>
              <a:tr h="80168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ALL DIMENSION LEVEL SHOW IN THE PROPOSAL     DRAWING IS INDICATIVE ONLY. 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FINAL DESIGN DIMENSION LEVEL WILL BE SHOWN IN OUR APROVAL  DRAWING IN THE DESIGN STAGE.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700482"/>
                  </a:ext>
                </a:extLst>
              </a:tr>
              <a:tr h="4778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396477"/>
                  </a:ext>
                </a:extLst>
              </a:tr>
              <a:tr h="4778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extLst>
                  <a:ext uri="{0D108BD9-81ED-4DB2-BD59-A6C34878D82A}">
                    <a16:rowId xmlns:a16="http://schemas.microsoft.com/office/drawing/2014/main" val="3353900427"/>
                  </a:ext>
                </a:extLst>
              </a:tr>
              <a:tr h="5254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MAR 2024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Issued for proposal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SSM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MNM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VVJ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extLst>
                  <a:ext uri="{0D108BD9-81ED-4DB2-BD59-A6C34878D82A}">
                    <a16:rowId xmlns:a16="http://schemas.microsoft.com/office/drawing/2014/main" val="3468695605"/>
                  </a:ext>
                </a:extLst>
              </a:tr>
              <a:tr h="4651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DATE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DESCRIPTION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DSN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DRN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CHK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extLst>
                  <a:ext uri="{0D108BD9-81ED-4DB2-BD59-A6C34878D82A}">
                    <a16:rowId xmlns:a16="http://schemas.microsoft.com/office/drawing/2014/main" val="3175125481"/>
                  </a:ext>
                </a:extLst>
              </a:tr>
              <a:tr h="4651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Quotation number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162167"/>
                  </a:ext>
                </a:extLst>
              </a:tr>
              <a:tr h="4651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Q--OI-GH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246537"/>
                  </a:ext>
                </a:extLst>
              </a:tr>
              <a:tr h="463550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PROJECT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870142"/>
                  </a:ext>
                </a:extLst>
              </a:tr>
              <a:tr h="4651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SHED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919314"/>
                  </a:ext>
                </a:extLst>
              </a:tr>
              <a:tr h="4651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CLIENT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2743211"/>
                  </a:ext>
                </a:extLst>
              </a:tr>
              <a:tr h="4778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DejaVu Sans" charset="0"/>
                        </a:rPr>
                        <a:t>-</a:t>
                      </a:r>
                    </a:p>
                  </a:txBody>
                  <a:tcPr marL="90000" marR="90000" marT="4680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642121"/>
                  </a:ext>
                </a:extLst>
              </a:tr>
              <a:tr h="1116013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r" defTabSz="457200" rtl="0" eaLnBrk="0" fontAlgn="base" latinLnBrk="0" hangingPunct="0">
                        <a:lnSpc>
                          <a:spcPct val="12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4680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262410"/>
                  </a:ext>
                </a:extLst>
              </a:tr>
              <a:tr h="465138"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BUILDING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NO.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REVISION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NO.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DATE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SHEET No.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656012"/>
                  </a:ext>
                </a:extLst>
              </a:tr>
              <a:tr h="525463"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00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MAR 2024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04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612954"/>
                  </a:ext>
                </a:extLst>
              </a:tr>
              <a:tr h="4651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DRAWING TITLE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044545"/>
                  </a:ext>
                </a:extLst>
              </a:tr>
              <a:tr h="45878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END WALL ELEVATIONS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4634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955720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7">
            <a:extLst>
              <a:ext uri="{FF2B5EF4-FFF2-40B4-BE49-F238E27FC236}">
                <a16:creationId xmlns:a16="http://schemas.microsoft.com/office/drawing/2014/main" id="{67D90E18-C5AF-43B1-8D9D-C2B97FA293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811965"/>
              </p:ext>
            </p:extLst>
          </p:nvPr>
        </p:nvGraphicFramePr>
        <p:xfrm>
          <a:off x="11527146" y="468644"/>
          <a:ext cx="3106738" cy="974371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88963">
                  <a:extLst>
                    <a:ext uri="{9D8B030D-6E8A-4147-A177-3AD203B41FA5}">
                      <a16:colId xmlns:a16="http://schemas.microsoft.com/office/drawing/2014/main" val="3023593774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1467255611"/>
                    </a:ext>
                  </a:extLst>
                </a:gridCol>
                <a:gridCol w="777875">
                  <a:extLst>
                    <a:ext uri="{9D8B030D-6E8A-4147-A177-3AD203B41FA5}">
                      <a16:colId xmlns:a16="http://schemas.microsoft.com/office/drawing/2014/main" val="1532989057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3008855979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3188732711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494848359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791281485"/>
                    </a:ext>
                  </a:extLst>
                </a:gridCol>
              </a:tblGrid>
              <a:tr h="4651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NOTE: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860533"/>
                  </a:ext>
                </a:extLst>
              </a:tr>
              <a:tr h="628650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1. ALL DIMENSIONS ARE IN MILLIMETER. U.N.O.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2. ROOF &amp; WALL SHEET 0.5mm THK. RAL -9016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 FINISH ALUZINC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215411"/>
                  </a:ext>
                </a:extLst>
              </a:tr>
              <a:tr h="80168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ALL DIMENSION LEVEL SHOW IN THE PROPOSAL     DRAWING IS INDICATIVE ONLY. 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FINAL DESIGN DIMENSION LEVEL WILL BE SHOWN IN OUR APROVAL  DRAWING IN THE DESIGN STAGE.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700482"/>
                  </a:ext>
                </a:extLst>
              </a:tr>
              <a:tr h="4778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396477"/>
                  </a:ext>
                </a:extLst>
              </a:tr>
              <a:tr h="4778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extLst>
                  <a:ext uri="{0D108BD9-81ED-4DB2-BD59-A6C34878D82A}">
                    <a16:rowId xmlns:a16="http://schemas.microsoft.com/office/drawing/2014/main" val="3353900427"/>
                  </a:ext>
                </a:extLst>
              </a:tr>
              <a:tr h="5254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MAR 2024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Issued for proposal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SSM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MNM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VVJ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extLst>
                  <a:ext uri="{0D108BD9-81ED-4DB2-BD59-A6C34878D82A}">
                    <a16:rowId xmlns:a16="http://schemas.microsoft.com/office/drawing/2014/main" val="3468695605"/>
                  </a:ext>
                </a:extLst>
              </a:tr>
              <a:tr h="4651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DATE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DESCRIPTION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DSN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DRN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CHK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extLst>
                  <a:ext uri="{0D108BD9-81ED-4DB2-BD59-A6C34878D82A}">
                    <a16:rowId xmlns:a16="http://schemas.microsoft.com/office/drawing/2014/main" val="3175125481"/>
                  </a:ext>
                </a:extLst>
              </a:tr>
              <a:tr h="4651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Quotation number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162167"/>
                  </a:ext>
                </a:extLst>
              </a:tr>
              <a:tr h="4651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Q--OI-GH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246537"/>
                  </a:ext>
                </a:extLst>
              </a:tr>
              <a:tr h="463550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PROJECT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870142"/>
                  </a:ext>
                </a:extLst>
              </a:tr>
              <a:tr h="4651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SHED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919314"/>
                  </a:ext>
                </a:extLst>
              </a:tr>
              <a:tr h="4651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CLIENT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2743211"/>
                  </a:ext>
                </a:extLst>
              </a:tr>
              <a:tr h="4778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DejaVu Sans" charset="0"/>
                        </a:rPr>
                        <a:t>-</a:t>
                      </a:r>
                    </a:p>
                  </a:txBody>
                  <a:tcPr marL="90000" marR="90000" marT="4680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642121"/>
                  </a:ext>
                </a:extLst>
              </a:tr>
              <a:tr h="1116013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r" defTabSz="457200" rtl="0" eaLnBrk="0" fontAlgn="base" latinLnBrk="0" hangingPunct="0">
                        <a:lnSpc>
                          <a:spcPct val="12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4680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262410"/>
                  </a:ext>
                </a:extLst>
              </a:tr>
              <a:tr h="465138"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BUILDING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NO.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REVISION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NO.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DATE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SHEET No.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656012"/>
                  </a:ext>
                </a:extLst>
              </a:tr>
              <a:tr h="525463"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00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MAR 2024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05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612954"/>
                  </a:ext>
                </a:extLst>
              </a:tr>
              <a:tr h="4651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DRAWING TITLE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044545"/>
                  </a:ext>
                </a:extLst>
              </a:tr>
              <a:tr h="45878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SIDE WALL ELEVATIONS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4634901"/>
                  </a:ext>
                </a:extLst>
              </a:tr>
            </a:tbl>
          </a:graphicData>
        </a:graphic>
      </p:graphicFrame>
      <p:sp>
        <p:nvSpPr>
          <p:cNvPr id="6145" name="Rectangle 1"/>
          <p:cNvSpPr>
            <a:spLocks noChangeArrowheads="1"/>
          </p:cNvSpPr>
          <p:nvPr/>
        </p:nvSpPr>
        <p:spPr bwMode="auto">
          <a:xfrm>
            <a:off x="1076325" y="752475"/>
            <a:ext cx="9720263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74" name="Rectangle 130"/>
          <p:cNvSpPr>
            <a:spLocks noChangeArrowheads="1"/>
          </p:cNvSpPr>
          <p:nvPr/>
        </p:nvSpPr>
        <p:spPr bwMode="auto">
          <a:xfrm>
            <a:off x="1076325" y="752475"/>
            <a:ext cx="9720263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75" name="Rectangle 131"/>
          <p:cNvSpPr>
            <a:spLocks noChangeArrowheads="1"/>
          </p:cNvSpPr>
          <p:nvPr/>
        </p:nvSpPr>
        <p:spPr bwMode="auto">
          <a:xfrm>
            <a:off x="1076325" y="752475"/>
            <a:ext cx="9720263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76" name="Text Box 132"/>
          <p:cNvSpPr txBox="1">
            <a:spLocks noChangeArrowheads="1"/>
          </p:cNvSpPr>
          <p:nvPr/>
        </p:nvSpPr>
        <p:spPr bwMode="auto">
          <a:xfrm>
            <a:off x="431800" y="9478963"/>
            <a:ext cx="11068050" cy="66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1900" b="1" u="sng" dirty="0"/>
              <a:t>BACK SIDE WALL ELEVATION</a:t>
            </a:r>
          </a:p>
        </p:txBody>
      </p:sp>
      <p:sp>
        <p:nvSpPr>
          <p:cNvPr id="6277" name="Text Box 133"/>
          <p:cNvSpPr txBox="1">
            <a:spLocks noChangeArrowheads="1"/>
          </p:cNvSpPr>
          <p:nvPr/>
        </p:nvSpPr>
        <p:spPr bwMode="auto">
          <a:xfrm>
            <a:off x="431800" y="4633913"/>
            <a:ext cx="11068050" cy="66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1900" b="1" u="sng" dirty="0"/>
              <a:t>FRONT SIDE WALL ELEVATION</a:t>
            </a:r>
          </a:p>
        </p:txBody>
      </p:sp>
      <p:pic>
        <p:nvPicPr>
          <p:cNvPr id="6278" name="Picture 13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1825" y="7215188"/>
            <a:ext cx="1984375" cy="107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264984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9767DC-1D88-4950-B508-5FD2F901F53E}"/>
              </a:ext>
            </a:extLst>
          </p:cNvPr>
          <p:cNvSpPr txBox="1"/>
          <p:nvPr/>
        </p:nvSpPr>
        <p:spPr>
          <a:xfrm>
            <a:off x="10017457" y="9447396"/>
            <a:ext cx="4449170" cy="377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48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kumimoji="0" lang="en-US" altLang="en-US" sz="3200" b="1" u="none" strike="noStrike" cap="none" normalizeH="0" baseline="0" dirty="0">
                <a:ln>
                  <a:noFill/>
                </a:ln>
                <a:effectLst/>
              </a:rPr>
              <a:t>FRAMING 3D VIEW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DejaVu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501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1076325" y="752475"/>
            <a:ext cx="9720263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75" name="Rectangle 131"/>
          <p:cNvSpPr>
            <a:spLocks noChangeArrowheads="1"/>
          </p:cNvSpPr>
          <p:nvPr/>
        </p:nvSpPr>
        <p:spPr bwMode="auto">
          <a:xfrm>
            <a:off x="1076325" y="752475"/>
            <a:ext cx="9720263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76" name="Rectangle 132"/>
          <p:cNvSpPr>
            <a:spLocks noChangeArrowheads="1"/>
          </p:cNvSpPr>
          <p:nvPr/>
        </p:nvSpPr>
        <p:spPr bwMode="auto">
          <a:xfrm>
            <a:off x="1076325" y="752475"/>
            <a:ext cx="9720263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77" name="Text Box 133"/>
          <p:cNvSpPr txBox="1">
            <a:spLocks noChangeArrowheads="1"/>
          </p:cNvSpPr>
          <p:nvPr/>
        </p:nvSpPr>
        <p:spPr bwMode="auto">
          <a:xfrm>
            <a:off x="399256" y="9478963"/>
            <a:ext cx="11130090" cy="438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1900" b="1" u="sng" dirty="0"/>
              <a:t>FRAMING PLAN</a:t>
            </a:r>
          </a:p>
        </p:txBody>
      </p:sp>
      <p:sp>
        <p:nvSpPr>
          <p:cNvPr id="6278" name="Text Box 134"/>
          <p:cNvSpPr txBox="1">
            <a:spLocks noChangeArrowheads="1"/>
          </p:cNvSpPr>
          <p:nvPr/>
        </p:nvSpPr>
        <p:spPr bwMode="auto">
          <a:xfrm>
            <a:off x="399256" y="4633913"/>
            <a:ext cx="11130090" cy="483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1900" b="1" u="sng" dirty="0"/>
              <a:t>SIDE WALL FRAMING ELEVATION</a:t>
            </a:r>
          </a:p>
        </p:txBody>
      </p:sp>
      <p:graphicFrame>
        <p:nvGraphicFramePr>
          <p:cNvPr id="9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860206"/>
              </p:ext>
            </p:extLst>
          </p:nvPr>
        </p:nvGraphicFramePr>
        <p:xfrm>
          <a:off x="11556642" y="441348"/>
          <a:ext cx="3106738" cy="9811633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88963">
                  <a:extLst>
                    <a:ext uri="{9D8B030D-6E8A-4147-A177-3AD203B41FA5}">
                      <a16:colId xmlns:a16="http://schemas.microsoft.com/office/drawing/2014/main" val="1168224339"/>
                    </a:ext>
                  </a:extLst>
                </a:gridCol>
                <a:gridCol w="242887">
                  <a:extLst>
                    <a:ext uri="{9D8B030D-6E8A-4147-A177-3AD203B41FA5}">
                      <a16:colId xmlns:a16="http://schemas.microsoft.com/office/drawing/2014/main" val="1791336019"/>
                    </a:ext>
                  </a:extLst>
                </a:gridCol>
                <a:gridCol w="777875">
                  <a:extLst>
                    <a:ext uri="{9D8B030D-6E8A-4147-A177-3AD203B41FA5}">
                      <a16:colId xmlns:a16="http://schemas.microsoft.com/office/drawing/2014/main" val="2741849838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825759216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1262830985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457744303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949220667"/>
                    </a:ext>
                  </a:extLst>
                </a:gridCol>
              </a:tblGrid>
              <a:tr h="4651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NOTE: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708137"/>
                  </a:ext>
                </a:extLst>
              </a:tr>
              <a:tr h="789780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1. ALL DIMENSIONS ARE IN MILLIMETER. U.N.O.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 ROOF &amp; WALL SHEET 0.45mm THK. RAL -9016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 FINISH ALUZINC.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270585"/>
                  </a:ext>
                </a:extLst>
              </a:tr>
              <a:tr h="80168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ALL DIMENSION LEVELS SHOW IN THE PROPOSAL DRAWING ARE INDICATIVE ONLY. 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FINAL DESIGN DIMENSION LEVELS WILL BE SHOWN IN OUR APPROVAL  DRAWING IN THE DESIGN STAGE.</a:t>
                      </a:r>
                    </a:p>
                    <a:p>
                      <a:pPr marL="0" marR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177308"/>
                  </a:ext>
                </a:extLst>
              </a:tr>
              <a:tr h="4778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63720" marB="46800" anchor="ctr" horzOverflow="overflow"/>
                </a:tc>
                <a:extLst>
                  <a:ext uri="{0D108BD9-81ED-4DB2-BD59-A6C34878D82A}">
                    <a16:rowId xmlns:a16="http://schemas.microsoft.com/office/drawing/2014/main" val="3029671821"/>
                  </a:ext>
                </a:extLst>
              </a:tr>
              <a:tr h="5254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MAR 2024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Issued for proposal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VVJ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MNM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VVJ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extLst>
                  <a:ext uri="{0D108BD9-81ED-4DB2-BD59-A6C34878D82A}">
                    <a16:rowId xmlns:a16="http://schemas.microsoft.com/office/drawing/2014/main" val="2727174502"/>
                  </a:ext>
                </a:extLst>
              </a:tr>
              <a:tr h="4651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DATE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DESCRIPTION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DSN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DRN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CHK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1080" marR="91080" marT="66240" marB="46800" anchor="ctr" horzOverflow="overflow"/>
                </a:tc>
                <a:extLst>
                  <a:ext uri="{0D108BD9-81ED-4DB2-BD59-A6C34878D82A}">
                    <a16:rowId xmlns:a16="http://schemas.microsoft.com/office/drawing/2014/main" val="668949934"/>
                  </a:ext>
                </a:extLst>
              </a:tr>
              <a:tr h="4651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Quotation number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342489"/>
                  </a:ext>
                </a:extLst>
              </a:tr>
              <a:tr h="4651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Q--OI-GH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54132"/>
                  </a:ext>
                </a:extLst>
              </a:tr>
              <a:tr h="463550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PROJECT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774509"/>
                  </a:ext>
                </a:extLst>
              </a:tr>
              <a:tr h="4651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Shed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875760"/>
                  </a:ext>
                </a:extLst>
              </a:tr>
              <a:tr h="4651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CLIENT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47603"/>
                  </a:ext>
                </a:extLst>
              </a:tr>
              <a:tr h="4778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76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4680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961401"/>
                  </a:ext>
                </a:extLst>
              </a:tr>
              <a:tr h="1116013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r" defTabSz="457200" rtl="0" eaLnBrk="0" fontAlgn="base" latinLnBrk="0" hangingPunct="0">
                        <a:lnSpc>
                          <a:spcPct val="76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ejaVu Sans" charset="0"/>
                      </a:endParaRPr>
                    </a:p>
                  </a:txBody>
                  <a:tcPr marL="90000" marR="90000" marT="4680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329193"/>
                  </a:ext>
                </a:extLst>
              </a:tr>
              <a:tr h="465138"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BUILDING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NO.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REVISION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NO.</a:t>
                      </a:r>
                    </a:p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DATE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SHEET NO.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874576"/>
                  </a:ext>
                </a:extLst>
              </a:tr>
              <a:tr h="525463"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00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MAR 2024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08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383928"/>
                  </a:ext>
                </a:extLst>
              </a:tr>
              <a:tr h="46513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l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DRAWING TITLE</a:t>
                      </a:r>
                      <a:endParaRPr kumimoji="0" lang="en-US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331810"/>
                  </a:ext>
                </a:extLst>
              </a:tr>
              <a:tr h="458788">
                <a:tc gridSpan="7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38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5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21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9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25"/>
                        </a:spcBef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5pPr>
                      <a:lvl6pPr marL="25146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6pPr>
                      <a:lvl7pPr marL="29718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7pPr>
                      <a:lvl8pPr marL="34290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8pPr>
                      <a:lvl9pPr marL="3886200" indent="-228600" defTabSz="457200" fontAlgn="base">
                        <a:lnSpc>
                          <a:spcPct val="90000"/>
                        </a:lnSpc>
                        <a:spcBef>
                          <a:spcPts val="525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  <a:defRPr sz="17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DejaVu Sans" charset="0"/>
                        </a:defRPr>
                      </a:lvl9pPr>
                    </a:lstStyle>
                    <a:p>
                      <a:pPr marL="0" marR="0" lvl="0" indent="0" algn="ctr" defTabSz="457200" rtl="0" eaLnBrk="0" fontAlgn="base" latinLnBrk="0" hangingPunct="0">
                        <a:lnSpc>
                          <a:spcPct val="4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FRAMING VIEWS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DejaVu Sans" charset="0"/>
                      </a:endParaRPr>
                    </a:p>
                  </a:txBody>
                  <a:tcPr marL="90000" marR="90000" marT="66240" marB="4680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979526"/>
                  </a:ext>
                </a:extLst>
              </a:tr>
            </a:tbl>
          </a:graphicData>
        </a:graphic>
      </p:graphicFrame>
      <p:pic>
        <p:nvPicPr>
          <p:cNvPr id="10" name="Picture 134">
            <a:extLst>
              <a:ext uri="{FF2B5EF4-FFF2-40B4-BE49-F238E27FC236}">
                <a16:creationId xmlns:a16="http://schemas.microsoft.com/office/drawing/2014/main" id="{021748F1-BF84-4750-84EE-7C0AEF903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1825" y="7242484"/>
            <a:ext cx="1984375" cy="107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401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0EB9FB5B-096F-4047-8E07-24259DE9260C}" vid="{ED62244D-C5FB-496A-8069-B0817883CB99}"/>
    </a:ext>
  </a:extLst>
</a:theme>
</file>

<file path=ppt/theme/theme2.xml><?xml version="1.0" encoding="utf-8"?>
<a:theme xmlns:a="http://schemas.openxmlformats.org/drawingml/2006/main" name="Titl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0EB9FB5B-096F-4047-8E07-24259DE9260C}" vid="{00A15F1B-7721-43BB-ACAA-06F1EC000F4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00-01_Sivoko</Template>
  <TotalTime>19</TotalTime>
  <Words>478</Words>
  <Application>Microsoft Office PowerPoint</Application>
  <PresentationFormat>Custom</PresentationFormat>
  <Paragraphs>181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Microsoft YaHei</vt:lpstr>
      <vt:lpstr>Arial</vt:lpstr>
      <vt:lpstr>Calibri</vt:lpstr>
      <vt:lpstr>DejaVu Sans</vt:lpstr>
      <vt:lpstr>Mangal</vt:lpstr>
      <vt:lpstr>Times New Roman</vt:lpstr>
      <vt:lpstr>Default</vt:lpstr>
      <vt:lpstr>Title1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Design</cp:lastModifiedBy>
  <cp:revision>29</cp:revision>
  <dcterms:created xsi:type="dcterms:W3CDTF">2020-05-24T13:59:00Z</dcterms:created>
  <dcterms:modified xsi:type="dcterms:W3CDTF">2024-03-18T05:20:39Z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r8>0</vt:r8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r8>0</vt:r8>
  </property>
  <property fmtid="{D5CDD505-2E9C-101B-9397-08002B2CF9AE}" pid="7" name="Notes">
    <vt:r8>0</vt:r8>
  </property>
  <property fmtid="{D5CDD505-2E9C-101B-9397-08002B2CF9AE}" pid="8" name="PresentationFormat">
    <vt:lpwstr>A3 Paper (297x420 mm)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r8>11</vt:r8>
  </property>
</Properties>
</file>