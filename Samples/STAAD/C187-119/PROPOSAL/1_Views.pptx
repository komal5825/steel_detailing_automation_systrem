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3" r:id="rId8"/>
    <p:sldId id="261" r:id="rId9"/>
  </p:sldIdLst>
  <p:sldSz cx="15124113" cy="1069181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12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1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fld id="{F1D61279-6C52-4B7E-8F4F-9B205ECAE384}" type="slidenum">
              <a:t>‹#›</a:t>
            </a:fld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955201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Move="1" noResize="1"/>
          </p:cNvSpPr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 cap="sq">
            <a:noFill/>
            <a:prstDash val="solid"/>
          </a:ln>
        </p:spPr>
        <p:txBody>
          <a:bodyPr wrap="none" lIns="90000" tIns="45000" rIns="90000" bIns="45000" anchor="ctr" anchorCtr="1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7772400" cy="10058400"/>
          </a:xfrm>
          <a:custGeom>
            <a:avLst>
              <a:gd name="f0" fmla="val 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0" y="0"/>
            <a:ext cx="7772400" cy="10058400"/>
          </a:xfrm>
          <a:custGeom>
            <a:avLst>
              <a:gd name="f0" fmla="val 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0" y="0"/>
            <a:ext cx="7772400" cy="10058400"/>
          </a:xfrm>
          <a:custGeom>
            <a:avLst>
              <a:gd name="f0" fmla="val 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0"/>
            <a:ext cx="7772400" cy="10058400"/>
          </a:xfrm>
          <a:custGeom>
            <a:avLst>
              <a:gd name="f0" fmla="val 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 idx="2"/>
          </p:nvPr>
        </p:nvSpPr>
        <p:spPr>
          <a:xfrm>
            <a:off x="-360" y="763200"/>
            <a:ext cx="360" cy="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8" name="Notes Placeholder 7"/>
          <p:cNvSpPr txBox="1">
            <a:spLocks noGrp="1"/>
          </p:cNvSpPr>
          <p:nvPr>
            <p:ph type="body" sz="quarter" idx="3"/>
          </p:nvPr>
        </p:nvSpPr>
        <p:spPr>
          <a:xfrm>
            <a:off x="777600" y="4776840"/>
            <a:ext cx="6210360" cy="451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compatLnSpc="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52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hangingPunct="0">
      <a:lnSpc>
        <a:spcPct val="100000"/>
      </a:lnSpc>
      <a:spcBef>
        <a:spcPts val="448"/>
      </a:spcBef>
      <a:spcAft>
        <a:spcPts val="0"/>
      </a:spcAft>
      <a:tabLst>
        <a:tab pos="0" algn="l"/>
        <a:tab pos="457200" algn="l"/>
        <a:tab pos="914400" algn="l"/>
        <a:tab pos="1371599" algn="l"/>
        <a:tab pos="1828800" algn="l"/>
        <a:tab pos="2286000" algn="l"/>
        <a:tab pos="2743199" algn="l"/>
        <a:tab pos="3200400" algn="l"/>
        <a:tab pos="3657600" algn="l"/>
        <a:tab pos="4114800" algn="l"/>
        <a:tab pos="4572000" algn="l"/>
        <a:tab pos="5029200" algn="l"/>
        <a:tab pos="5486399" algn="l"/>
        <a:tab pos="5943600" algn="l"/>
        <a:tab pos="6400799" algn="l"/>
        <a:tab pos="6858000" algn="l"/>
        <a:tab pos="7315200" algn="l"/>
        <a:tab pos="7772400" algn="l"/>
        <a:tab pos="8229600" algn="l"/>
        <a:tab pos="8686800" algn="l"/>
        <a:tab pos="9144000" algn="l"/>
      </a:tabLst>
      <a:defRPr lang="en-US" sz="1200" b="0" i="0" u="none" strike="noStrike" cap="none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Times New Roman" pitchFamily="18"/>
        <a:ea typeface="Microsoft YaHei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763588"/>
            <a:ext cx="1588" cy="1587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763588"/>
            <a:ext cx="1588" cy="1587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63588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079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63588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4596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63588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4824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63588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827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713" y="1749425"/>
            <a:ext cx="11342687" cy="372268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0713" y="5614988"/>
            <a:ext cx="11342687" cy="25828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17199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6643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665413"/>
            <a:ext cx="13044488" cy="44481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875" y="7154863"/>
            <a:ext cx="13044488" cy="23383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727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6325" y="2690813"/>
            <a:ext cx="6403975" cy="5778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2700" y="2690813"/>
            <a:ext cx="6405563" cy="5778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960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569913"/>
            <a:ext cx="13044488" cy="20653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00" y="2620963"/>
            <a:ext cx="6399213" cy="1284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00" y="3905250"/>
            <a:ext cx="6399213" cy="5745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6513" y="2620963"/>
            <a:ext cx="6429375" cy="1284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6513" y="3905250"/>
            <a:ext cx="6429375" cy="5745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1862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09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8548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712788"/>
            <a:ext cx="4878388" cy="2495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5" y="1539875"/>
            <a:ext cx="7656513" cy="75977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00" y="3208338"/>
            <a:ext cx="4878388" cy="5942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0176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712788"/>
            <a:ext cx="4878388" cy="2495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29375" y="1539875"/>
            <a:ext cx="7656513" cy="759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00" y="3208338"/>
            <a:ext cx="4878388" cy="5942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8181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2296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8175" y="754063"/>
            <a:ext cx="3240088" cy="7715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6325" y="754063"/>
            <a:ext cx="9569450" cy="77152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5882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325" y="755650"/>
            <a:ext cx="12957175" cy="1649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328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713" y="1749425"/>
            <a:ext cx="11342687" cy="372268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0713" y="5614988"/>
            <a:ext cx="11342687" cy="25828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00431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218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665413"/>
            <a:ext cx="13044488" cy="44481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875" y="7154863"/>
            <a:ext cx="13044488" cy="23383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1382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6325" y="2690813"/>
            <a:ext cx="6403975" cy="5778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2700" y="2690813"/>
            <a:ext cx="6405563" cy="5778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31702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569913"/>
            <a:ext cx="13044488" cy="20653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00" y="2620963"/>
            <a:ext cx="6399213" cy="1284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00" y="3905250"/>
            <a:ext cx="6399213" cy="5745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6513" y="2620963"/>
            <a:ext cx="6429375" cy="1284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6513" y="3905250"/>
            <a:ext cx="6429375" cy="5745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2129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94209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4977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712788"/>
            <a:ext cx="4878388" cy="2495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5" y="1539875"/>
            <a:ext cx="7656513" cy="75977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00" y="3208338"/>
            <a:ext cx="4878388" cy="5942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4223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712788"/>
            <a:ext cx="4878388" cy="2495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29375" y="1539875"/>
            <a:ext cx="7656513" cy="759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00" y="3208338"/>
            <a:ext cx="4878388" cy="5942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48364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01871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8175" y="755650"/>
            <a:ext cx="3240088" cy="77136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6325" y="755650"/>
            <a:ext cx="9569450" cy="77136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193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430200" y="426960"/>
            <a:ext cx="14257440" cy="9831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5560" cap="sq">
            <a:solidFill>
              <a:srgbClr val="2200FF"/>
            </a:solidFill>
            <a:prstDash val="solid"/>
            <a:round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1076040" y="753840"/>
            <a:ext cx="12961800" cy="1657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 compatLnSpc="1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1076040" y="2690640"/>
            <a:ext cx="12961800" cy="5778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 compatLnSpc="1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marL="0" marR="0" indent="0" algn="l" eaLnBrk="1" hangingPunct="1">
        <a:lnSpc>
          <a:spcPct val="90000"/>
        </a:lnSpc>
        <a:spcBef>
          <a:spcPts val="0"/>
        </a:spcBef>
        <a:spcAft>
          <a:spcPts val="0"/>
        </a:spcAft>
        <a:tabLst>
          <a:tab pos="0" algn="l"/>
          <a:tab pos="457200" algn="l"/>
          <a:tab pos="914400" algn="l"/>
          <a:tab pos="1371599" algn="l"/>
          <a:tab pos="1828800" algn="l"/>
          <a:tab pos="2286000" algn="l"/>
          <a:tab pos="2743199" algn="l"/>
          <a:tab pos="3200400" algn="l"/>
          <a:tab pos="3657600" algn="l"/>
          <a:tab pos="4114800" algn="l"/>
          <a:tab pos="4572000" algn="l"/>
          <a:tab pos="5029200" algn="l"/>
          <a:tab pos="5486399" algn="l"/>
          <a:tab pos="5943600" algn="l"/>
          <a:tab pos="6400799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en-US" sz="4600" b="0" i="0" u="none" strike="noStrike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2"/>
        </a:defRPr>
      </a:lvl1pPr>
    </p:titleStyle>
    <p:bodyStyle>
      <a:lvl1pPr marL="342720" marR="0" indent="-342720" algn="l" eaLnBrk="1" hangingPunct="1">
        <a:lnSpc>
          <a:spcPct val="90000"/>
        </a:lnSpc>
        <a:spcBef>
          <a:spcPts val="1037"/>
        </a:spcBef>
        <a:spcAft>
          <a:spcPts val="0"/>
        </a:spcAft>
        <a:tabLst>
          <a:tab pos="342720" algn="l"/>
          <a:tab pos="456840" algn="l"/>
          <a:tab pos="914040" algn="l"/>
          <a:tab pos="1371239" algn="l"/>
          <a:tab pos="1828439" algn="l"/>
          <a:tab pos="2285639" algn="l"/>
          <a:tab pos="2742839" algn="l"/>
          <a:tab pos="3200040" algn="l"/>
          <a:tab pos="3657239" algn="l"/>
          <a:tab pos="4114440" algn="l"/>
          <a:tab pos="4571639" algn="l"/>
          <a:tab pos="5028840" algn="l"/>
          <a:tab pos="5486040" algn="l"/>
          <a:tab pos="5943240" algn="l"/>
          <a:tab pos="6400440" algn="l"/>
          <a:tab pos="6857640" algn="l"/>
          <a:tab pos="7314840" algn="l"/>
          <a:tab pos="7772040" algn="l"/>
          <a:tab pos="8229240" algn="l"/>
          <a:tab pos="8686440" algn="l"/>
          <a:tab pos="9143640" algn="l"/>
        </a:tabLst>
        <a:defRPr lang="en-US" sz="2900" b="0" i="0" u="none" strike="noStrike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430200" y="426960"/>
            <a:ext cx="14257440" cy="9831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5560" cap="sq">
            <a:solidFill>
              <a:srgbClr val="2200FF"/>
            </a:solidFill>
            <a:prstDash val="solid"/>
            <a:round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1076400" y="755280"/>
            <a:ext cx="12955680" cy="1647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 compatLnSpc="1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1076040" y="2690640"/>
            <a:ext cx="12961800" cy="5778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 compatLnSpc="1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indent="0" algn="l" hangingPunct="1">
        <a:lnSpc>
          <a:spcPct val="90000"/>
        </a:lnSpc>
        <a:spcBef>
          <a:spcPts val="0"/>
        </a:spcBef>
        <a:spcAft>
          <a:spcPts val="0"/>
        </a:spcAft>
        <a:tabLst>
          <a:tab pos="0" algn="l"/>
          <a:tab pos="457200" algn="l"/>
          <a:tab pos="914400" algn="l"/>
          <a:tab pos="1371599" algn="l"/>
          <a:tab pos="1828800" algn="l"/>
          <a:tab pos="2286000" algn="l"/>
          <a:tab pos="2743199" algn="l"/>
          <a:tab pos="3200400" algn="l"/>
          <a:tab pos="3657600" algn="l"/>
          <a:tab pos="4114800" algn="l"/>
          <a:tab pos="4572000" algn="l"/>
          <a:tab pos="5029200" algn="l"/>
          <a:tab pos="5486399" algn="l"/>
          <a:tab pos="5943600" algn="l"/>
          <a:tab pos="6400799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en-US" sz="4600" b="0" i="0" u="none" strike="noStrike" kern="1200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2"/>
        </a:defRPr>
      </a:lvl1pPr>
    </p:titleStyle>
    <p:bodyStyle>
      <a:lvl1pPr marL="342720" marR="0" indent="-342720" algn="l" hangingPunct="1">
        <a:lnSpc>
          <a:spcPct val="90000"/>
        </a:lnSpc>
        <a:spcBef>
          <a:spcPts val="1037"/>
        </a:spcBef>
        <a:spcAft>
          <a:spcPts val="0"/>
        </a:spcAft>
        <a:tabLst>
          <a:tab pos="342720" algn="l"/>
          <a:tab pos="456840" algn="l"/>
          <a:tab pos="914040" algn="l"/>
          <a:tab pos="1371239" algn="l"/>
          <a:tab pos="1828439" algn="l"/>
          <a:tab pos="2285639" algn="l"/>
          <a:tab pos="2742839" algn="l"/>
          <a:tab pos="3200040" algn="l"/>
          <a:tab pos="3657239" algn="l"/>
          <a:tab pos="4114440" algn="l"/>
          <a:tab pos="4571639" algn="l"/>
          <a:tab pos="5028840" algn="l"/>
          <a:tab pos="5486040" algn="l"/>
          <a:tab pos="5943240" algn="l"/>
          <a:tab pos="6400440" algn="l"/>
          <a:tab pos="6857640" algn="l"/>
          <a:tab pos="7314840" algn="l"/>
          <a:tab pos="7772040" algn="l"/>
          <a:tab pos="8229240" algn="l"/>
          <a:tab pos="8686440" algn="l"/>
          <a:tab pos="9143640" algn="l"/>
        </a:tabLst>
        <a:defRPr lang="en-US" sz="2900" b="0" i="0" u="none" strike="noStrike" kern="1200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/>
          <p:nvPr/>
        </p:nvSpPr>
        <p:spPr>
          <a:xfrm>
            <a:off x="390600" y="7823160"/>
            <a:ext cx="14308200" cy="1800"/>
          </a:xfrm>
          <a:prstGeom prst="line">
            <a:avLst/>
          </a:prstGeom>
          <a:noFill/>
          <a:ln w="9360" cap="sq">
            <a:solidFill>
              <a:srgbClr val="2200FF"/>
            </a:solidFill>
            <a:prstDash val="solid"/>
            <a:miter/>
          </a:ln>
        </p:spPr>
        <p:txBody>
          <a:bodyPr wrap="square" lIns="90000" tIns="46800" rIns="90000" bIns="46800" anchor="t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9209160" y="6737400"/>
            <a:ext cx="5262479" cy="93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9209160" y="6820939"/>
            <a:ext cx="5262840" cy="93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ct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alibri" pitchFamily="34"/>
                <a:ea typeface="DejaVu Sans" pitchFamily="2"/>
                <a:cs typeface="DejaVu Sans" pitchFamily="2"/>
              </a:rPr>
              <a:t>Shed</a:t>
            </a:r>
          </a:p>
          <a:p>
            <a:pPr marL="0" marR="0" lvl="0" indent="0" algn="ct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200" b="0" i="0" u="sng" strike="noStrike" cap="none" baseline="0" dirty="0">
              <a:ln>
                <a:noFill/>
              </a:ln>
              <a:solidFill>
                <a:srgbClr val="000000"/>
              </a:solidFill>
              <a:uFillTx/>
              <a:latin typeface="Calibri" pitchFamily="34"/>
              <a:ea typeface="DejaVu Sans" pitchFamily="2"/>
              <a:cs typeface="DejaVu Sans" pitchFamily="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866663"/>
              </p:ext>
            </p:extLst>
          </p:nvPr>
        </p:nvGraphicFramePr>
        <p:xfrm>
          <a:off x="8596440" y="7908763"/>
          <a:ext cx="6006600" cy="2268000"/>
        </p:xfrm>
        <a:graphic>
          <a:graphicData uri="http://schemas.openxmlformats.org/drawingml/2006/table">
            <a:tbl>
              <a:tblPr/>
              <a:tblGrid>
                <a:gridCol w="1636920">
                  <a:extLst>
                    <a:ext uri="{9D8B030D-6E8A-4147-A177-3AD203B41FA5}">
                      <a16:colId xmlns:a16="http://schemas.microsoft.com/office/drawing/2014/main" val="2971997719"/>
                    </a:ext>
                  </a:extLst>
                </a:gridCol>
                <a:gridCol w="1953000">
                  <a:extLst>
                    <a:ext uri="{9D8B030D-6E8A-4147-A177-3AD203B41FA5}">
                      <a16:colId xmlns:a16="http://schemas.microsoft.com/office/drawing/2014/main" val="2709850426"/>
                    </a:ext>
                  </a:extLst>
                </a:gridCol>
                <a:gridCol w="2416680">
                  <a:extLst>
                    <a:ext uri="{9D8B030D-6E8A-4147-A177-3AD203B41FA5}">
                      <a16:colId xmlns:a16="http://schemas.microsoft.com/office/drawing/2014/main" val="2757545395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Proposal: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1" i="0" u="none" strike="noStrike" cap="none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Cnnn</a:t>
                      </a:r>
                      <a:r>
                        <a:rPr lang="en-US" sz="1800" b="1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-xxx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2"/>
                        <a:ea typeface="DejaVu Sans" pitchFamily="2"/>
                        <a:cs typeface="DejaVu Sans" pitchFamily="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3555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00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01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01 SEP </a:t>
                      </a:r>
                      <a:r>
                        <a:rPr lang="en-US" sz="1800" b="0" i="0" u="none" strike="noStrike" cap="none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2022</a:t>
                      </a:r>
                      <a:endParaRPr lang="en-US" sz="1800" b="0" i="0" u="none" strike="noStrike" cap="none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2"/>
                        <a:ea typeface="DejaVu Sans" pitchFamily="2"/>
                        <a:cs typeface="DejaVu Sans" pitchFamily="2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2196412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REV.NO.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BLDG.NO.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97845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SSJ</a:t>
                      </a:r>
                      <a:endParaRPr lang="en-US" sz="1800" b="0" i="0" u="none" strike="noStrike" cap="none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2"/>
                        <a:ea typeface="DejaVu Sans" pitchFamily="2"/>
                        <a:cs typeface="DejaVu Sans" pitchFamily="2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MNM</a:t>
                      </a:r>
                      <a:endParaRPr lang="en-US" sz="1800" b="0" i="0" u="none" strike="noStrike" cap="none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2"/>
                        <a:ea typeface="DejaVu Sans" pitchFamily="2"/>
                        <a:cs typeface="DejaVu Sans" pitchFamily="2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VVJ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4271024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DESIGNED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DRAWN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CHECKED BY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514137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254945"/>
              </p:ext>
            </p:extLst>
          </p:nvPr>
        </p:nvGraphicFramePr>
        <p:xfrm>
          <a:off x="5089679" y="7908763"/>
          <a:ext cx="3404520" cy="2286000"/>
        </p:xfrm>
        <a:graphic>
          <a:graphicData uri="http://schemas.openxmlformats.org/drawingml/2006/table">
            <a:tbl>
              <a:tblPr/>
              <a:tblGrid>
                <a:gridCol w="836280">
                  <a:extLst>
                    <a:ext uri="{9D8B030D-6E8A-4147-A177-3AD203B41FA5}">
                      <a16:colId xmlns:a16="http://schemas.microsoft.com/office/drawing/2014/main" val="2552035514"/>
                    </a:ext>
                  </a:extLst>
                </a:gridCol>
                <a:gridCol w="2568240">
                  <a:extLst>
                    <a:ext uri="{9D8B030D-6E8A-4147-A177-3AD203B41FA5}">
                      <a16:colId xmlns:a16="http://schemas.microsoft.com/office/drawing/2014/main" val="190236052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400" b="1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Sheet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400" b="1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Contents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397671711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01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Title Sheet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99574195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02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Isometric Views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41176644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03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Roof Plan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187058618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04, 05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Side &amp; End Wall Elevations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367018549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06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Column Layout Plan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176560408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07, 08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kern="1200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Framing Views</a:t>
                      </a:r>
                      <a:endParaRPr lang="en-US" dirty="0"/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394000512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09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kern="1200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Outline Specifications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151631040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17" y="7908763"/>
            <a:ext cx="438422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" y="4727596"/>
            <a:ext cx="15124112" cy="12366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ctr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i="0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alibri" pitchFamily="34"/>
                <a:ea typeface="DejaVu Sans" pitchFamily="2"/>
                <a:cs typeface="DejaVu Sans" pitchFamily="2"/>
              </a:rPr>
              <a:t>ISOMETRIC</a:t>
            </a:r>
          </a:p>
          <a:p>
            <a:pPr marL="0" marR="0" lvl="0" indent="0" algn="ctr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i="0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alibri" pitchFamily="34"/>
                <a:ea typeface="DejaVu Sans" pitchFamily="2"/>
                <a:cs typeface="DejaVu Sans" pitchFamily="2"/>
              </a:rPr>
              <a:t>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50405" y="10312400"/>
            <a:ext cx="823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Sheet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227076"/>
              </p:ext>
            </p:extLst>
          </p:nvPr>
        </p:nvGraphicFramePr>
        <p:xfrm>
          <a:off x="962818" y="9709943"/>
          <a:ext cx="4313238" cy="317911"/>
        </p:xfrm>
        <a:graphic>
          <a:graphicData uri="http://schemas.openxmlformats.org/drawingml/2006/table">
            <a:tbl>
              <a:tblPr/>
              <a:tblGrid>
                <a:gridCol w="1204913">
                  <a:extLst>
                    <a:ext uri="{9D8B030D-6E8A-4147-A177-3AD203B41FA5}">
                      <a16:colId xmlns:a16="http://schemas.microsoft.com/office/drawing/2014/main" val="288976697"/>
                    </a:ext>
                  </a:extLst>
                </a:gridCol>
                <a:gridCol w="3108325">
                  <a:extLst>
                    <a:ext uri="{9D8B030D-6E8A-4147-A177-3AD203B41FA5}">
                      <a16:colId xmlns:a16="http://schemas.microsoft.com/office/drawing/2014/main" val="2392225365"/>
                    </a:ext>
                  </a:extLst>
                </a:gridCol>
              </a:tblGrid>
              <a:tr h="23300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264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DENOTE : SKY LIGHT 3250X1000MM</a:t>
                      </a:r>
                    </a:p>
                  </a:txBody>
                  <a:tcPr marL="90000" marR="90000" marT="5472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671221"/>
                  </a:ext>
                </a:extLst>
              </a:tr>
            </a:tbl>
          </a:graphicData>
        </a:graphic>
      </p:graphicFrame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04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882400"/>
              </p:ext>
            </p:extLst>
          </p:nvPr>
        </p:nvGraphicFramePr>
        <p:xfrm>
          <a:off x="11558842" y="440248"/>
          <a:ext cx="3106738" cy="980089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88963">
                  <a:extLst>
                    <a:ext uri="{9D8B030D-6E8A-4147-A177-3AD203B41FA5}">
                      <a16:colId xmlns:a16="http://schemas.microsoft.com/office/drawing/2014/main" val="116822433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791336019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741849838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825759216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126283098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457744303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949220667"/>
                    </a:ext>
                  </a:extLst>
                </a:gridCol>
              </a:tblGrid>
              <a:tr h="46002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NOTE: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708137"/>
                  </a:ext>
                </a:extLst>
              </a:tr>
              <a:tr h="856463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1. ALL DIMENSIONS ARE IN MILLIMETER. U.N.O.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 ROOF &amp; WALL SHEET 0.45mm THK. RAL -9016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FINISH ALUZINC.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270585"/>
                  </a:ext>
                </a:extLst>
              </a:tr>
              <a:tr h="106909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ALL DIMENSION LEVELS SHOW IN THE PROPOSAL DRAWING ARE INDICATIVE ONLY. 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FINAL DESIGN DIMENSION LEVELS WILL BE SHOWN IN OUR APPROVAL  DRAWING IN THE DESIGN STAGE.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77308"/>
                  </a:ext>
                </a:extLst>
              </a:tr>
              <a:tr h="47258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029671821"/>
                  </a:ext>
                </a:extLst>
              </a:tr>
              <a:tr h="70541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 SEP </a:t>
                      </a: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2022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Issued for proposal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SSJ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MNM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2727174502"/>
                  </a:ext>
                </a:extLst>
              </a:tr>
              <a:tr h="46002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CHK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668949934"/>
                  </a:ext>
                </a:extLst>
              </a:tr>
              <a:tr h="46002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Quotation number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42489"/>
                  </a:ext>
                </a:extLst>
              </a:tr>
              <a:tr h="46002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Cnnn</a:t>
                      </a: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-xxx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54132"/>
                  </a:ext>
                </a:extLst>
              </a:tr>
              <a:tr h="45845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PROJECT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74509"/>
                  </a:ext>
                </a:extLst>
              </a:tr>
              <a:tr h="46002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Shed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75760"/>
                  </a:ext>
                </a:extLst>
              </a:tr>
              <a:tr h="46002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CLIENT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7603"/>
                  </a:ext>
                </a:extLst>
              </a:tr>
              <a:tr h="47258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961401"/>
                  </a:ext>
                </a:extLst>
              </a:tr>
              <a:tr h="110374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29193"/>
                  </a:ext>
                </a:extLst>
              </a:tr>
              <a:tr h="460026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BUILDING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REVISION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SHEET NO.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74576"/>
                  </a:ext>
                </a:extLst>
              </a:tr>
              <a:tr h="519688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 SEP </a:t>
                      </a: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2022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83928"/>
                  </a:ext>
                </a:extLst>
              </a:tr>
              <a:tr h="460026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DRAWING TITLE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31810"/>
                  </a:ext>
                </a:extLst>
              </a:tr>
              <a:tr h="453745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ROOF PLAN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79526"/>
                  </a:ext>
                </a:extLst>
              </a:tr>
            </a:tbl>
          </a:graphicData>
        </a:graphic>
      </p:graphicFrame>
      <p:sp>
        <p:nvSpPr>
          <p:cNvPr id="4232" name="Text Box 136"/>
          <p:cNvSpPr txBox="1">
            <a:spLocks noChangeArrowheads="1"/>
          </p:cNvSpPr>
          <p:nvPr/>
        </p:nvSpPr>
        <p:spPr bwMode="auto">
          <a:xfrm>
            <a:off x="406400" y="8825707"/>
            <a:ext cx="1115244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b="1" u="sng" dirty="0"/>
              <a:t>ROOF PLAN</a:t>
            </a:r>
          </a:p>
        </p:txBody>
      </p:sp>
      <p:pic>
        <p:nvPicPr>
          <p:cNvPr id="4233" name="Picture 13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758" y="9709943"/>
            <a:ext cx="411163" cy="379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234" name="Picture 13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16050" y="9369629"/>
            <a:ext cx="285750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7908202" y="9792904"/>
            <a:ext cx="1922321" cy="1976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 eaLnBrk="0" fontAlgn="base" hangingPunct="0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900" dirty="0"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rPr>
              <a:t>DENOTE : TURBO VENTILATOR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87450" y="7297924"/>
            <a:ext cx="1936030" cy="100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445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51" name="Text Box 131"/>
          <p:cNvSpPr txBox="1">
            <a:spLocks noChangeArrowheads="1"/>
          </p:cNvSpPr>
          <p:nvPr/>
        </p:nvSpPr>
        <p:spPr bwMode="auto">
          <a:xfrm>
            <a:off x="399256" y="9477375"/>
            <a:ext cx="11130090" cy="516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b="1" u="sng" dirty="0"/>
              <a:t>RIGHT END WALL ELEVATION</a:t>
            </a:r>
          </a:p>
        </p:txBody>
      </p:sp>
      <p:sp>
        <p:nvSpPr>
          <p:cNvPr id="5252" name="Text Box 132"/>
          <p:cNvSpPr txBox="1">
            <a:spLocks noChangeArrowheads="1"/>
          </p:cNvSpPr>
          <p:nvPr/>
        </p:nvSpPr>
        <p:spPr bwMode="auto">
          <a:xfrm>
            <a:off x="399256" y="4783139"/>
            <a:ext cx="11130090" cy="410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b="1" u="sng" dirty="0"/>
              <a:t>LEFT END WALL ELEVATION</a:t>
            </a:r>
          </a:p>
        </p:txBody>
      </p:sp>
      <p:graphicFrame>
        <p:nvGraphicFramePr>
          <p:cNvPr id="7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67752"/>
              </p:ext>
            </p:extLst>
          </p:nvPr>
        </p:nvGraphicFramePr>
        <p:xfrm>
          <a:off x="11556642" y="441348"/>
          <a:ext cx="3106738" cy="979425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88963">
                  <a:extLst>
                    <a:ext uri="{9D8B030D-6E8A-4147-A177-3AD203B41FA5}">
                      <a16:colId xmlns:a16="http://schemas.microsoft.com/office/drawing/2014/main" val="116822433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791336019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741849838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825759216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126283098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457744303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949220667"/>
                    </a:ext>
                  </a:extLst>
                </a:gridCol>
              </a:tblGrid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NOTE: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708137"/>
                  </a:ext>
                </a:extLst>
              </a:tr>
              <a:tr h="78820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1. ALL DIMENSIONS ARE IN MILLIMETER. U.N.O.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 ROOF &amp; WALL SHEET 0.45mm THK. RAL -9016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FINISH ALUZINC.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270585"/>
                  </a:ext>
                </a:extLst>
              </a:tr>
              <a:tr h="1071013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ALL DIMENSION LEVELS SHOW IN THE PROPOSAL DRAWING ARE INDICATIVE ONLY. 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FINAL DESIGN DIMENSION LEVELS WILL BE SHOWN IN OUR APPROVAL  DRAWING IN THE DESIGN STAGE.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77308"/>
                  </a:ext>
                </a:extLst>
              </a:tr>
              <a:tr h="47688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029671821"/>
                  </a:ext>
                </a:extLst>
              </a:tr>
              <a:tr h="70668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 SEP </a:t>
                      </a: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2022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Issued for proposal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SSJ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MNM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2727174502"/>
                  </a:ext>
                </a:extLst>
              </a:tr>
              <a:tr h="4642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CHK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668949934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Quotation number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42489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Cnnn</a:t>
                      </a: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-xxx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54132"/>
                  </a:ext>
                </a:extLst>
              </a:tr>
              <a:tr h="462622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PROJECT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74509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Shed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75760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CLIENT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7603"/>
                  </a:ext>
                </a:extLst>
              </a:tr>
              <a:tr h="476882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/>
                      </a:pPr>
                      <a:endParaRPr kumimoji="0" lang="en-US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961401"/>
                  </a:ext>
                </a:extLst>
              </a:tr>
              <a:tr h="111378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29193"/>
                  </a:ext>
                </a:extLst>
              </a:tr>
              <a:tr h="464207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BUILDING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REVISION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SHEET NO.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74576"/>
                  </a:ext>
                </a:extLst>
              </a:tr>
              <a:tr h="524412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 SEP </a:t>
                      </a: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2022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83928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DRAWING TITLE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31810"/>
                  </a:ext>
                </a:extLst>
              </a:tr>
              <a:tr h="45787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END WALL ELEVATIONS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79526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0554" y="7270628"/>
            <a:ext cx="1943870" cy="101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8878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5" name="Rectangle 131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6" name="Rectangle 132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7" name="Text Box 133"/>
          <p:cNvSpPr txBox="1">
            <a:spLocks noChangeArrowheads="1"/>
          </p:cNvSpPr>
          <p:nvPr/>
        </p:nvSpPr>
        <p:spPr bwMode="auto">
          <a:xfrm>
            <a:off x="399256" y="9478963"/>
            <a:ext cx="11130090" cy="438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900" b="1" u="sng" dirty="0"/>
              <a:t>BACK SIDE WALL ELEVATION</a:t>
            </a:r>
          </a:p>
        </p:txBody>
      </p:sp>
      <p:sp>
        <p:nvSpPr>
          <p:cNvPr id="6278" name="Text Box 134"/>
          <p:cNvSpPr txBox="1">
            <a:spLocks noChangeArrowheads="1"/>
          </p:cNvSpPr>
          <p:nvPr/>
        </p:nvSpPr>
        <p:spPr bwMode="auto">
          <a:xfrm>
            <a:off x="399256" y="4633913"/>
            <a:ext cx="11130090" cy="483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900" b="1" u="sng" dirty="0"/>
              <a:t>FRONT SIDE WALL ELEVATION</a:t>
            </a:r>
          </a:p>
        </p:txBody>
      </p:sp>
      <p:graphicFrame>
        <p:nvGraphicFramePr>
          <p:cNvPr id="9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188690"/>
              </p:ext>
            </p:extLst>
          </p:nvPr>
        </p:nvGraphicFramePr>
        <p:xfrm>
          <a:off x="11556642" y="441348"/>
          <a:ext cx="3106738" cy="979425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88963">
                  <a:extLst>
                    <a:ext uri="{9D8B030D-6E8A-4147-A177-3AD203B41FA5}">
                      <a16:colId xmlns:a16="http://schemas.microsoft.com/office/drawing/2014/main" val="116822433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791336019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741849838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825759216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126283098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457744303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949220667"/>
                    </a:ext>
                  </a:extLst>
                </a:gridCol>
              </a:tblGrid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NOTE: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708137"/>
                  </a:ext>
                </a:extLst>
              </a:tr>
              <a:tr h="78820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1. ALL DIMENSIONS ARE IN MILLIMETER. U.N.O.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 ROOF &amp; WALL SHEET 0.45mm THK. RAL -9016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FINISH ALUZINC.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270585"/>
                  </a:ext>
                </a:extLst>
              </a:tr>
              <a:tr h="1071013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ALL DIMENSION LEVELS SHOW IN THE PROPOSAL DRAWING ARE INDICATIVE ONLY. 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FINAL DESIGN DIMENSION LEVELS WILL BE SHOWN IN OUR APPROVAL  DRAWING IN THE DESIGN STAGE.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77308"/>
                  </a:ext>
                </a:extLst>
              </a:tr>
              <a:tr h="47688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029671821"/>
                  </a:ext>
                </a:extLst>
              </a:tr>
              <a:tr h="70668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 SEP </a:t>
                      </a: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2022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Issued for proposal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SSJ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MNM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2727174502"/>
                  </a:ext>
                </a:extLst>
              </a:tr>
              <a:tr h="4642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CHK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668949934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Quotation number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42489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Cnnn</a:t>
                      </a: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-xxx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54132"/>
                  </a:ext>
                </a:extLst>
              </a:tr>
              <a:tr h="462622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PROJECT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74509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Shed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75760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CLIENT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7603"/>
                  </a:ext>
                </a:extLst>
              </a:tr>
              <a:tr h="476882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961401"/>
                  </a:ext>
                </a:extLst>
              </a:tr>
              <a:tr h="111378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29193"/>
                  </a:ext>
                </a:extLst>
              </a:tr>
              <a:tr h="464207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BUILDING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REVISION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SHEET NO.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74576"/>
                  </a:ext>
                </a:extLst>
              </a:tr>
              <a:tr h="524412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 SEP </a:t>
                      </a: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2022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83928"/>
                  </a:ext>
                </a:extLst>
              </a:tr>
              <a:tr h="464207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DRAWING TITLE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31810"/>
                  </a:ext>
                </a:extLst>
              </a:tr>
              <a:tr h="45787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SIDE WALL ELEVATIONS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79526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9998" y="7270627"/>
            <a:ext cx="1933200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9767DC-1D88-4950-B508-5FD2F901F53E}"/>
              </a:ext>
            </a:extLst>
          </p:cNvPr>
          <p:cNvSpPr txBox="1"/>
          <p:nvPr/>
        </p:nvSpPr>
        <p:spPr>
          <a:xfrm>
            <a:off x="10017457" y="9447396"/>
            <a:ext cx="4449170" cy="377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48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kumimoji="0" lang="en-US" altLang="en-US" sz="3200" b="1" u="none" strike="noStrike" cap="none" normalizeH="0" baseline="0" dirty="0">
                <a:ln>
                  <a:noFill/>
                </a:ln>
                <a:effectLst/>
              </a:rPr>
              <a:t>FRAMING 3D VIEW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DejaVu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501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150467"/>
              </p:ext>
            </p:extLst>
          </p:nvPr>
        </p:nvGraphicFramePr>
        <p:xfrm>
          <a:off x="11570290" y="427700"/>
          <a:ext cx="3106738" cy="982800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88963">
                  <a:extLst>
                    <a:ext uri="{9D8B030D-6E8A-4147-A177-3AD203B41FA5}">
                      <a16:colId xmlns:a16="http://schemas.microsoft.com/office/drawing/2014/main" val="116822433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791336019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741849838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825759216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126283098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457744303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949220667"/>
                    </a:ext>
                  </a:extLst>
                </a:gridCol>
              </a:tblGrid>
              <a:tr h="474751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NOTE: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708137"/>
                  </a:ext>
                </a:extLst>
              </a:tr>
              <a:tr h="806104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1. ALL DIMENSIONS ARE IN MILLIMETER. U.N.O.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 ROOF &amp; WALL SHEET 0.45mm THK. RAL -9016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FINISH ALUZINC.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270585"/>
                  </a:ext>
                </a:extLst>
              </a:tr>
              <a:tr h="10953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ALL DIMENSION LEVELS SHOW IN THE PROPOSAL DRAWING ARE INDICATIVE ONLY. 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FINAL DESIGN DIMENSION LEVELS WILL BE SHOWN IN OUR APPROVAL  DRAWING IN THE DESIGN STAGE.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77308"/>
                  </a:ext>
                </a:extLst>
              </a:tr>
              <a:tr h="4877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029671821"/>
                  </a:ext>
                </a:extLst>
              </a:tr>
              <a:tr h="5363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 SEP </a:t>
                      </a: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2022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Issued for proposal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SSJ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MNM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2727174502"/>
                  </a:ext>
                </a:extLst>
              </a:tr>
              <a:tr h="47475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CHK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668949934"/>
                  </a:ext>
                </a:extLst>
              </a:tr>
              <a:tr h="474751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Quotation number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42489"/>
                  </a:ext>
                </a:extLst>
              </a:tr>
              <a:tr h="474751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Cnnn</a:t>
                      </a: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-xxx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54132"/>
                  </a:ext>
                </a:extLst>
              </a:tr>
              <a:tr h="47313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PROJECT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74509"/>
                  </a:ext>
                </a:extLst>
              </a:tr>
              <a:tr h="474751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Shed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75760"/>
                  </a:ext>
                </a:extLst>
              </a:tr>
              <a:tr h="474751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CLIENT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7603"/>
                  </a:ext>
                </a:extLst>
              </a:tr>
              <a:tr h="487713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961401"/>
                  </a:ext>
                </a:extLst>
              </a:tr>
              <a:tr h="113907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29193"/>
                  </a:ext>
                </a:extLst>
              </a:tr>
              <a:tr h="474751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BUILDING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REVISION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SHEET NO.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74576"/>
                  </a:ext>
                </a:extLst>
              </a:tr>
              <a:tr h="536325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 SEP </a:t>
                      </a: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2022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08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83928"/>
                  </a:ext>
                </a:extLst>
              </a:tr>
              <a:tr h="474751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DRAWING TITLE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31810"/>
                  </a:ext>
                </a:extLst>
              </a:tr>
              <a:tr h="46826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FRAMING VIEWS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50292" marB="50292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79526"/>
                  </a:ext>
                </a:extLst>
              </a:tr>
            </a:tbl>
          </a:graphicData>
        </a:graphic>
      </p:graphicFrame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5" name="Rectangle 131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6" name="Rectangle 132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7" name="Text Box 133"/>
          <p:cNvSpPr txBox="1">
            <a:spLocks noChangeArrowheads="1"/>
          </p:cNvSpPr>
          <p:nvPr/>
        </p:nvSpPr>
        <p:spPr bwMode="auto">
          <a:xfrm>
            <a:off x="399256" y="9698434"/>
            <a:ext cx="11130090" cy="438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900" b="1" u="sng" dirty="0"/>
              <a:t>FRAMING PLAN</a:t>
            </a:r>
          </a:p>
        </p:txBody>
      </p:sp>
      <p:sp>
        <p:nvSpPr>
          <p:cNvPr id="6278" name="Text Box 134"/>
          <p:cNvSpPr txBox="1">
            <a:spLocks noChangeArrowheads="1"/>
          </p:cNvSpPr>
          <p:nvPr/>
        </p:nvSpPr>
        <p:spPr bwMode="auto">
          <a:xfrm>
            <a:off x="502687" y="3196828"/>
            <a:ext cx="11130090" cy="483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900" b="1" u="sng" dirty="0"/>
              <a:t>SIDE WALL FRAMING ELEVATION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6478" y="7216036"/>
            <a:ext cx="1933200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1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3DC4267-1DFD-47B7-828F-D059D26D5429}" vid="{91DE753B-7857-4CC6-92B9-E9CF1A23A341}"/>
    </a:ext>
  </a:extLst>
</a:theme>
</file>

<file path=ppt/theme/theme2.xml><?xml version="1.0" encoding="utf-8"?>
<a:theme xmlns:a="http://schemas.openxmlformats.org/drawingml/2006/main" name="Titl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3DC4267-1DFD-47B7-828F-D059D26D5429}" vid="{F4B3EC56-0DD3-4358-BCA9-CE9471B7EFF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00-01</Template>
  <TotalTime>101</TotalTime>
  <Words>480</Words>
  <Application>Microsoft Office PowerPoint</Application>
  <PresentationFormat>Custom</PresentationFormat>
  <Paragraphs>192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Microsoft YaHei</vt:lpstr>
      <vt:lpstr>Arial</vt:lpstr>
      <vt:lpstr>Calibri</vt:lpstr>
      <vt:lpstr>DejaVu Sans</vt:lpstr>
      <vt:lpstr>Mangal</vt:lpstr>
      <vt:lpstr>Times New Roman</vt:lpstr>
      <vt:lpstr>Default</vt:lpstr>
      <vt:lpstr>Title1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Pinnacle Modeller</cp:lastModifiedBy>
  <cp:revision>38</cp:revision>
  <dcterms:created xsi:type="dcterms:W3CDTF">2020-05-24T13:46:57Z</dcterms:created>
  <dcterms:modified xsi:type="dcterms:W3CDTF">2022-09-01T11:43:40Z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0</vt:r8>
  </property>
  <property fmtid="{D5CDD505-2E9C-101B-9397-08002B2CF9AE}" pid="8" name="PresentationFormat">
    <vt:lpwstr>A3 Paper (297x420 mm)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11</vt:r8>
  </property>
</Properties>
</file>